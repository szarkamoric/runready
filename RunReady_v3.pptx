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12"/>
  </p:notesMasterIdLst>
  <p:sldIdLst>
    <p:sldId id="256" r:id="rId3"/>
    <p:sldId id="263" r:id="rId4"/>
    <p:sldId id="264" r:id="rId5"/>
    <p:sldId id="267" r:id="rId6"/>
    <p:sldId id="270" r:id="rId7"/>
    <p:sldId id="265" r:id="rId8"/>
    <p:sldId id="271" r:id="rId9"/>
    <p:sldId id="275" r:id="rId10"/>
    <p:sldId id="274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F220A-4AA3-4FC8-A8A6-C87403137C1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7AD90-D1E2-4F89-AE52-374EB1692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6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7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B508-750B-0069-C18D-3D9179E9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D65F7-319E-AEBC-A682-C859412F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9E3FD-1323-AED0-419B-7D83D1EEB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DA0CE-33A1-DD1B-C8DE-A7A859FCB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68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6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8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74C3-49F3-F193-A30F-CC7335FD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E6B5-DDA9-1274-8953-7DAF9F50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4632-AC11-8479-112E-AD15E525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EC55-2E53-A99C-B125-E1C24C57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6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734E-D0ED-C269-0BF6-4904ADC3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141A8-3F09-7B9E-FF81-205BD9D75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AE05A-93F7-CB41-3478-7B1DE32AB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18F98-26B0-25DF-FC43-734299A98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00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2292-15DC-40E6-F071-8A9208B4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E7F9E-453C-AFDC-B4FD-7ADB49811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D6682-4DA0-B895-1A7D-CA475A4D9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AECDA-F8A0-5C8C-69F3-86B753A4D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AD90-D1E2-4F89-AE52-374EB1692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5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1102320"/>
            <a:ext cx="8686440" cy="164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;p11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2;p13"/>
          <p:cNvPicPr/>
          <p:nvPr/>
        </p:nvPicPr>
        <p:blipFill>
          <a:blip r:embed="rId2"/>
          <a:srcRect l="961" t="922" r="950" b="932"/>
          <a:stretch/>
        </p:blipFill>
        <p:spPr>
          <a:xfrm flipH="1">
            <a:off x="5400" y="0"/>
            <a:ext cx="91386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03476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2498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231120" y="203004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4766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249984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476748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703476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23220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71;p1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05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5;p15"/>
          <p:cNvPicPr/>
          <p:nvPr/>
        </p:nvPicPr>
        <p:blipFill>
          <a:blip r:embed="rId2"/>
          <a:srcRect l="513" r="513" b="185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364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28600" y="1370160"/>
            <a:ext cx="3697560" cy="354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360" y="1524960"/>
            <a:ext cx="4236840" cy="31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0;p16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83;p17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2860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882680" y="20062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88268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/>
          <p:cNvPicPr/>
          <p:nvPr/>
        </p:nvPicPr>
        <p:blipFill>
          <a:blip r:embed="rId2"/>
          <a:srcRect l="1755" t="94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2286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228600" y="2512800"/>
            <a:ext cx="58968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4572000" y="251280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2286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title"/>
          </p:nvPr>
        </p:nvSpPr>
        <p:spPr>
          <a:xfrm>
            <a:off x="45720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8;p19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5400" y="307152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630320" y="185868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14;p20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767840" y="1742400"/>
            <a:ext cx="373752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117;p20"/>
          <p:cNvSpPr/>
          <p:nvPr/>
        </p:nvSpPr>
        <p:spPr>
          <a:xfrm>
            <a:off x="5591520" y="2936520"/>
            <a:ext cx="291384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3;p3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3720" y="3070440"/>
            <a:ext cx="3350520" cy="187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7007040" y="16102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19;p21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21;p22"/>
          <p:cNvPicPr/>
          <p:nvPr/>
        </p:nvPicPr>
        <p:blipFill>
          <a:blip r:embed="rId2"/>
          <a:srcRect l="827" t="827" r="827" b="827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3;p23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7;p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5576400" y="3472920"/>
            <a:ext cx="2530080" cy="4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21;p5"/>
          <p:cNvPicPr/>
          <p:nvPr/>
        </p:nvPicPr>
        <p:blipFill>
          <a:blip r:embed="rId2"/>
          <a:srcRect l="1755" t="932" r="98" b="93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3112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8;p6"/>
          <p:cNvPicPr/>
          <p:nvPr/>
        </p:nvPicPr>
        <p:blipFill>
          <a:blip r:embed="rId2"/>
          <a:srcRect t="417" b="417"/>
          <a:stretch/>
        </p:blipFill>
        <p:spPr>
          <a:xfrm>
            <a:off x="0" y="0"/>
            <a:ext cx="92203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31;p7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36;p8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9;p9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228600" y="4549680"/>
            <a:ext cx="365832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m.smallville.cloud.bme.hu:17209/d/runability-overview/runability-homework-dashboard?orgId=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28600" y="1104840"/>
            <a:ext cx="868644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dirty="0" err="1"/>
              <a:t>RunReady</a:t>
            </a:r>
            <a:r>
              <a:rPr lang="en-US" sz="4800" dirty="0"/>
              <a:t>: Campus Weather &amp; Air Quality Analyzer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2502900" y="3791856"/>
            <a:ext cx="4137837" cy="3592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r>
              <a:rPr lang="en-US" sz="1600" b="1" i="0" dirty="0">
                <a:effectLst/>
                <a:latin typeface="inherit"/>
              </a:rPr>
              <a:t>Szarka Móric</a:t>
            </a:r>
            <a:r>
              <a:rPr lang="en-US" sz="1600" b="0" i="0" dirty="0">
                <a:effectLst/>
                <a:latin typeface="inherit"/>
              </a:rPr>
              <a:t> </a:t>
            </a:r>
            <a:r>
              <a:rPr lang="en-US" sz="1600" b="0" i="1" dirty="0">
                <a:effectLst/>
                <a:latin typeface="inherit"/>
              </a:rPr>
              <a:t>(Project Leader), </a:t>
            </a:r>
            <a:r>
              <a:rPr lang="en-US" sz="1600" b="1" i="0" dirty="0">
                <a:effectLst/>
                <a:latin typeface="inherit"/>
              </a:rPr>
              <a:t>Békési Marcell</a:t>
            </a:r>
            <a:endParaRPr lang="en-US" sz="1600" b="0" i="0" dirty="0">
              <a:effectLst/>
              <a:latin typeface="inherit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3" name="Google Shape;141;p28"/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909751-69A7-D58E-EDDE-5A3AC7BFF773}"/>
              </a:ext>
            </a:extLst>
          </p:cNvPr>
          <p:cNvSpPr txBox="1"/>
          <p:nvPr/>
        </p:nvSpPr>
        <p:spPr>
          <a:xfrm>
            <a:off x="1708117" y="3152537"/>
            <a:ext cx="57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inherit"/>
              </a:rPr>
              <a:t>Smart City Infocommunication Technologies project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Project Goal &amp; Overview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0928D5-F396-E9D9-6750-951691DBD527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2387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Students and faculty often don't know if the local air quality and weather are safe and comfortable for outdoor activities like running or walking.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Solution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real-time monitoring dashboard that collects local weather (temperature, humidity, wind) and air pollution (AQI, PM2.5, PM10) data via APIs for the university area.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The system will calculate a custom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Runability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Score" (0-100) combining these factors to provide an immediate recommendation on whether it's a good time to go outside.</a:t>
            </a:r>
            <a:endParaRPr lang="hu-H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436A-34F6-4B47-698E-2C038581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C6F7BBC2-8FD9-0A09-4D63-43422A86BCE4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Task Breakdown &amp; Commitments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DF8B66-D9F4-D179-F0D3-8C1D6ED2E97E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1508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Write a Python script to reliably fetch real-time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forecasted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 from weather and AQI APIs.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Algorithm Development: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the logic for the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Runability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Score" that penalizes extreme heat/cold, high wind, and poor air quality.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 Integration: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up 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time-series database to store the historical and real-time data securely.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Dashboard Creation: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an interactive Grafana dashboard featuring current conditions, the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Runabilty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score, and a clear "Go / Don't Go" run indicator.</a:t>
            </a:r>
          </a:p>
        </p:txBody>
      </p:sp>
    </p:spTree>
    <p:extLst>
      <p:ext uri="{BB962C8B-B14F-4D97-AF65-F5344CB8AC3E}">
        <p14:creationId xmlns:p14="http://schemas.microsoft.com/office/powerpoint/2010/main" val="308724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System Architecture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To ensure high availability and easy deployment, the entire stack will be orchestrated using </a:t>
            </a:r>
            <a:r>
              <a:rPr lang="en-US" sz="1800" b="1" dirty="0"/>
              <a:t>Docker</a:t>
            </a:r>
            <a:r>
              <a:rPr lang="en-US" sz="1800" dirty="0"/>
              <a:t> and </a:t>
            </a:r>
            <a:r>
              <a:rPr lang="en-US" sz="1800" b="1" dirty="0"/>
              <a:t>Docker Compose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required 3 Containers: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Collector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Custom Python image to fetch API data and push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InfluxDB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2.x for time-series data storage.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Grafana for the real-time dashboard.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Orchestration: Docker Compose to manage networking and volume persistence between containers.</a:t>
            </a:r>
          </a:p>
        </p:txBody>
      </p:sp>
    </p:spTree>
    <p:extLst>
      <p:ext uri="{BB962C8B-B14F-4D97-AF65-F5344CB8AC3E}">
        <p14:creationId xmlns:p14="http://schemas.microsoft.com/office/powerpoint/2010/main" val="275955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System Architecture II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laptops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and testing.</a:t>
            </a:r>
          </a:p>
          <a:p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Server: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Linux VM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Docker &amp; Docker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(BME Cloud)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Minimum 2GB RAM, and a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stable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Internet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connection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Access: 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Port 3000 (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Grafana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university-wide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352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41E-9CF5-F231-E120-D12F757D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BABE470-ED9F-E5FC-D037-99DF4CC0527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Real-Time Data Sources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52DEB-E5E0-3B76-8680-B26CD1685A71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Meteo</a:t>
            </a:r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World Air Quality Index (WAQI) API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BC5AA6E-37F0-4ACF-8022-D10DB1896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179" y="2573876"/>
            <a:ext cx="3482181" cy="220264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59DE28A-1B0E-4B16-AF8B-9C6AE7BE0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80" y="2571750"/>
            <a:ext cx="3650303" cy="22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6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8172-6229-3C13-05F4-C62ED8FC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2A6D3FCB-9798-35E1-5627-605A93C085F6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 err="1"/>
              <a:t>Runability</a:t>
            </a:r>
            <a:r>
              <a:rPr lang="en-US" sz="2800" dirty="0"/>
              <a:t> Score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6F94D8-A04D-B61A-865E-4483E9A7BF5E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6352223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Unlike many existing outdoor activity recommendation tools that rely primarily on </a:t>
            </a:r>
            <a:r>
              <a:rPr lang="en-US" sz="2000" b="1" dirty="0"/>
              <a:t>Air Quality Index (AQI) </a:t>
            </a:r>
            <a:r>
              <a:rPr lang="en-US" sz="2000" dirty="0"/>
              <a:t>alone, our system combines multiple environmental factors</a:t>
            </a:r>
            <a:r>
              <a:rPr lang="hu-HU" sz="2000" dirty="0"/>
              <a:t>, </a:t>
            </a:r>
            <a:r>
              <a:rPr lang="en-US" sz="2000" dirty="0"/>
              <a:t>including </a:t>
            </a:r>
            <a:r>
              <a:rPr lang="en-US" sz="2000" b="1" dirty="0"/>
              <a:t>temperature, humidity, wind, </a:t>
            </a:r>
            <a:r>
              <a:rPr lang="en-US" sz="2000" dirty="0"/>
              <a:t>and</a:t>
            </a:r>
            <a:r>
              <a:rPr lang="en-US" sz="2000" b="1" dirty="0"/>
              <a:t> rain</a:t>
            </a:r>
            <a:r>
              <a:rPr lang="hu-HU" sz="2000" dirty="0"/>
              <a:t>, </a:t>
            </a:r>
            <a:r>
              <a:rPr lang="en-US" sz="2000" dirty="0"/>
              <a:t>to provide a more realistic activity suitability score.</a:t>
            </a:r>
            <a:endParaRPr lang="hu-HU" sz="2000" dirty="0"/>
          </a:p>
          <a:p>
            <a:r>
              <a:rPr lang="en-US" sz="2000" dirty="0"/>
              <a:t>Scoring Logic:</a:t>
            </a:r>
            <a:r>
              <a:rPr lang="hu-HU" sz="2000" dirty="0"/>
              <a:t> </a:t>
            </a:r>
            <a:r>
              <a:rPr lang="en-US" sz="2000" dirty="0"/>
              <a:t>Each input is converted into a 0-1 comfort factor</a:t>
            </a:r>
            <a:endParaRPr lang="hu-HU" sz="2000" dirty="0"/>
          </a:p>
          <a:p>
            <a:r>
              <a:rPr lang="en-US" sz="1600" dirty="0" err="1"/>
              <a:t>Runability</a:t>
            </a:r>
            <a:r>
              <a:rPr lang="en-US" sz="1600" dirty="0"/>
              <a:t> Score = 100</a:t>
            </a:r>
            <a:r>
              <a:rPr lang="hu-HU" sz="1600" dirty="0"/>
              <a:t>*</a:t>
            </a:r>
            <a:r>
              <a:rPr lang="en-US" sz="1600" dirty="0" err="1"/>
              <a:t>temp_score</a:t>
            </a:r>
            <a:r>
              <a:rPr lang="hu-HU" sz="1600" dirty="0"/>
              <a:t>*</a:t>
            </a:r>
            <a:r>
              <a:rPr lang="en-US" sz="1600" dirty="0" err="1"/>
              <a:t>hum_score</a:t>
            </a:r>
            <a:r>
              <a:rPr lang="hu-HU" sz="1600" dirty="0"/>
              <a:t>*</a:t>
            </a:r>
            <a:r>
              <a:rPr lang="en-US" sz="1600" dirty="0" err="1"/>
              <a:t>wind_score</a:t>
            </a:r>
            <a:r>
              <a:rPr lang="hu-HU" sz="1600" dirty="0"/>
              <a:t>*</a:t>
            </a:r>
            <a:r>
              <a:rPr lang="en-US" sz="1600" dirty="0" err="1"/>
              <a:t>rain_score</a:t>
            </a:r>
            <a:r>
              <a:rPr lang="hu-HU" sz="1600" dirty="0"/>
              <a:t>*</a:t>
            </a:r>
            <a:r>
              <a:rPr lang="en-US" sz="1600" dirty="0"/>
              <a:t>a</a:t>
            </a:r>
            <a:r>
              <a:rPr lang="hu-HU" sz="1600" dirty="0" err="1"/>
              <a:t>qi</a:t>
            </a:r>
            <a:r>
              <a:rPr lang="en-US" sz="1600" dirty="0"/>
              <a:t>_score</a:t>
            </a:r>
          </a:p>
          <a:p>
            <a:r>
              <a:rPr lang="en-US" sz="1600" dirty="0" err="1"/>
              <a:t>temp_score</a:t>
            </a:r>
            <a:r>
              <a:rPr lang="en-US" sz="1600" dirty="0"/>
              <a:t> = exp(- ((value - ideal)/ tolerance)^2)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F7A32-3837-CEFB-34AE-10E701E42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254" y="2085828"/>
            <a:ext cx="1972588" cy="2336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43161C-603D-9E75-66A7-0C25B7865B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540" y="169110"/>
            <a:ext cx="2921658" cy="13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9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1671-7CF4-5565-95AA-9CA2D59B0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32A85256-C8EF-8B9B-5E8F-182B27D99890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/>
              <a:t>The Dashboard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EFB94E-28F4-9140-5DA5-8ABB37F27B64}"/>
              </a:ext>
            </a:extLst>
          </p:cNvPr>
          <p:cNvSpPr txBox="1">
            <a:spLocks/>
          </p:cNvSpPr>
          <p:nvPr/>
        </p:nvSpPr>
        <p:spPr>
          <a:xfrm>
            <a:off x="476280" y="1428480"/>
            <a:ext cx="8191080" cy="3359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7363866-D1F1-48E9-94A5-88B0752E093B}"/>
              </a:ext>
            </a:extLst>
          </p:cNvPr>
          <p:cNvSpPr txBox="1"/>
          <p:nvPr/>
        </p:nvSpPr>
        <p:spPr>
          <a:xfrm>
            <a:off x="166523" y="4362900"/>
            <a:ext cx="866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>
                <a:hlinkClick r:id="rId3"/>
              </a:rPr>
              <a:t>http://vm.smallville.cloud.bme.hu:17209/d/runability-overview/runability-homework-dashboard?orgId=1</a:t>
            </a:r>
            <a:r>
              <a:rPr lang="en-US" dirty="0"/>
              <a:t> 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0AABA9E-43DB-426D-B79E-A3E051AF39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80" y="1034780"/>
            <a:ext cx="5866856" cy="325758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3BA0D34-B93A-4EE7-BB37-D0687D9324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736" y="201836"/>
            <a:ext cx="1910863" cy="414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6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28600" y="1104840"/>
            <a:ext cx="868644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dirty="0"/>
              <a:t>Thank you for your attention!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Google Shape;141;p28"/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909751-69A7-D58E-EDDE-5A3AC7BFF773}"/>
              </a:ext>
            </a:extLst>
          </p:cNvPr>
          <p:cNvSpPr txBox="1"/>
          <p:nvPr/>
        </p:nvSpPr>
        <p:spPr>
          <a:xfrm>
            <a:off x="1071100" y="3149410"/>
            <a:ext cx="7001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We’re happy to answer your questions and hear your </a:t>
            </a:r>
            <a:r>
              <a:rPr lang="en-US" sz="1800" dirty="0" err="1"/>
              <a:t>feedba</a:t>
            </a:r>
            <a:r>
              <a:rPr lang="hu-HU" sz="1800" dirty="0" err="1"/>
              <a:t>ck</a:t>
            </a:r>
            <a:r>
              <a:rPr lang="hu-HU" sz="1800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81538"/>
      </p:ext>
    </p:extLst>
  </p:cSld>
  <p:clrMapOvr>
    <a:masterClrMapping/>
  </p:clrMapOvr>
</p:sld>
</file>

<file path=ppt/theme/theme1.xml><?xml version="1.0" encoding="utf-8"?>
<a:theme xmlns:a="http://schemas.openxmlformats.org/drawingml/2006/main" name="Blue Gradient by Slidesgo">
  <a:themeElements>
    <a:clrScheme name="Simple Light">
      <a:dk1>
        <a:srgbClr val="083C77"/>
      </a:dk1>
      <a:lt1>
        <a:srgbClr val="EBFCFF"/>
      </a:lt1>
      <a:dk2>
        <a:srgbClr val="083C77"/>
      </a:dk2>
      <a:lt2>
        <a:srgbClr val="9CE3E9"/>
      </a:lt2>
      <a:accent1>
        <a:srgbClr val="93C4E0"/>
      </a:accent1>
      <a:accent2>
        <a:srgbClr val="829E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3C7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516</Words>
  <Application>Microsoft Office PowerPoint</Application>
  <PresentationFormat>Diavetítés a képernyőre (16:9 oldalarány)</PresentationFormat>
  <Paragraphs>44</Paragraphs>
  <Slides>9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2</vt:i4>
      </vt:variant>
      <vt:variant>
        <vt:lpstr>Diacímek</vt:lpstr>
      </vt:variant>
      <vt:variant>
        <vt:i4>9</vt:i4>
      </vt:variant>
    </vt:vector>
  </HeadingPairs>
  <TitlesOfParts>
    <vt:vector size="19" baseType="lpstr">
      <vt:lpstr>Aptos</vt:lpstr>
      <vt:lpstr>Arial</vt:lpstr>
      <vt:lpstr>Figtree</vt:lpstr>
      <vt:lpstr>inherit</vt:lpstr>
      <vt:lpstr>Karla</vt:lpstr>
      <vt:lpstr>OpenSymbol</vt:lpstr>
      <vt:lpstr>Symbol</vt:lpstr>
      <vt:lpstr>Wingdings</vt:lpstr>
      <vt:lpstr>Blue Gradient by Slidesgo</vt:lpstr>
      <vt:lpstr>Slidesgo Final Pages</vt:lpstr>
      <vt:lpstr>RunReady: Campus Weather &amp; Air Quality Analyzer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Thank you for your attention!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RunReady: Campus Weather &amp; Air Quality Analyzer</dc:title>
  <dc:creator>Móric Sz</dc:creator>
  <cp:lastModifiedBy>Szarka Móric</cp:lastModifiedBy>
  <cp:revision>22</cp:revision>
  <dcterms:modified xsi:type="dcterms:W3CDTF">2026-05-20T19:47:10Z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2026-03-04T09:47:39Z</dcterms:created>
  <dc:creator>Unknown Creator</dc:creator>
  <dc:description/>
  <dc:language>en-US</dc:language>
  <cp:lastModifiedBy>Unknown Creator</cp:lastModifiedBy>
  <dcterms:modified xsi:type="dcterms:W3CDTF">2026-03-04T09:47:39Z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