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</p:sldMasterIdLst>
  <p:notesMasterIdLst>
    <p:notesMasterId r:id="rId11"/>
  </p:notesMasterIdLst>
  <p:sldIdLst>
    <p:sldId id="256" r:id="rId3"/>
    <p:sldId id="263" r:id="rId4"/>
    <p:sldId id="264" r:id="rId5"/>
    <p:sldId id="267" r:id="rId6"/>
    <p:sldId id="270" r:id="rId7"/>
    <p:sldId id="265" r:id="rId8"/>
    <p:sldId id="268" r:id="rId9"/>
    <p:sldId id="269" r:id="rId1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01" d="100"/>
          <a:sy n="201" d="100"/>
        </p:scale>
        <p:origin x="65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F220A-4AA3-4FC8-A8A6-C87403137C1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B7AD90-D1E2-4F89-AE52-374EB1692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068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7AD90-D1E2-4F89-AE52-374EB1692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675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EB508-750B-0069-C18D-3D9179E9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D65F7-319E-AEBC-A682-C859412F5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9E3FD-1323-AED0-419B-7D83D1EEB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DA0CE-33A1-DD1B-C8DE-A7A859FCB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7AD90-D1E2-4F89-AE52-374EB16928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68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574C3-49F3-F193-A30F-CC7335FD1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AE6B5-DDA9-1274-8953-7DAF9F507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F4632-AC11-8479-112E-AD15E525B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3EC55-2E53-A99C-B125-E1C24C579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7AD90-D1E2-4F89-AE52-374EB16928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661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574C3-49F3-F193-A30F-CC7335FD1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AE6B5-DDA9-1274-8953-7DAF9F507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F4632-AC11-8479-112E-AD15E525B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3EC55-2E53-A99C-B125-E1C24C579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7AD90-D1E2-4F89-AE52-374EB16928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383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574C3-49F3-F193-A30F-CC7335FD1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AE6B5-DDA9-1274-8953-7DAF9F507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F4632-AC11-8479-112E-AD15E525B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3EC55-2E53-A99C-B125-E1C24C579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7AD90-D1E2-4F89-AE52-374EB16928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61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574C3-49F3-F193-A30F-CC7335FD1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AE6B5-DDA9-1274-8953-7DAF9F507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F4632-AC11-8479-112E-AD15E525B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3EC55-2E53-A99C-B125-E1C24C579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7AD90-D1E2-4F89-AE52-374EB16928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771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574C3-49F3-F193-A30F-CC7335FD1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AE6B5-DDA9-1274-8953-7DAF9F507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F4632-AC11-8479-112E-AD15E525B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3EC55-2E53-A99C-B125-E1C24C579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7AD90-D1E2-4F89-AE52-374EB16928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885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;p2"/>
          <p:cNvPicPr/>
          <p:nvPr/>
        </p:nvPicPr>
        <p:blipFill>
          <a:blip r:embed="rId2"/>
          <a:srcRect l="827" t="827" r="827" b="827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28600" y="1102320"/>
            <a:ext cx="8686440" cy="1646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7;p11"/>
          <p:cNvPicPr/>
          <p:nvPr/>
        </p:nvPicPr>
        <p:blipFill>
          <a:blip r:embed="rId2"/>
          <a:srcRect l="827" t="827" r="827" b="827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52;p13"/>
          <p:cNvPicPr/>
          <p:nvPr/>
        </p:nvPicPr>
        <p:blipFill>
          <a:blip r:embed="rId2"/>
          <a:srcRect l="961" t="922" r="950" b="932"/>
          <a:stretch/>
        </p:blipFill>
        <p:spPr>
          <a:xfrm flipH="1">
            <a:off x="5400" y="0"/>
            <a:ext cx="913860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7034760" y="2030040"/>
            <a:ext cx="62532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title"/>
          </p:nvPr>
        </p:nvSpPr>
        <p:spPr>
          <a:xfrm>
            <a:off x="2498400" y="2030040"/>
            <a:ext cx="62532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title"/>
          </p:nvPr>
        </p:nvSpPr>
        <p:spPr>
          <a:xfrm>
            <a:off x="231120" y="2030040"/>
            <a:ext cx="62424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title"/>
          </p:nvPr>
        </p:nvSpPr>
        <p:spPr>
          <a:xfrm>
            <a:off x="4766400" y="2030040"/>
            <a:ext cx="62532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title"/>
          </p:nvPr>
        </p:nvSpPr>
        <p:spPr>
          <a:xfrm>
            <a:off x="2499840" y="3377160"/>
            <a:ext cx="62424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title"/>
          </p:nvPr>
        </p:nvSpPr>
        <p:spPr>
          <a:xfrm>
            <a:off x="4767480" y="3377160"/>
            <a:ext cx="62424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title"/>
          </p:nvPr>
        </p:nvSpPr>
        <p:spPr>
          <a:xfrm>
            <a:off x="7034760" y="3377160"/>
            <a:ext cx="62424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9"/>
          <p:cNvSpPr>
            <a:spLocks noGrp="1"/>
          </p:cNvSpPr>
          <p:nvPr>
            <p:ph type="title"/>
          </p:nvPr>
        </p:nvSpPr>
        <p:spPr>
          <a:xfrm>
            <a:off x="232200" y="3377160"/>
            <a:ext cx="62424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71;p14"/>
          <p:cNvPicPr/>
          <p:nvPr/>
        </p:nvPicPr>
        <p:blipFill>
          <a:blip r:embed="rId2"/>
          <a:srcRect t="417" r="832" b="41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1051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75;p15"/>
          <p:cNvPicPr/>
          <p:nvPr/>
        </p:nvPicPr>
        <p:blipFill>
          <a:blip r:embed="rId2"/>
          <a:srcRect l="513" r="513" b="185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33640" y="228600"/>
            <a:ext cx="868644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228600" y="1370160"/>
            <a:ext cx="3697560" cy="354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572360" y="1524960"/>
            <a:ext cx="4236840" cy="31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80;p16"/>
          <p:cNvPicPr/>
          <p:nvPr/>
        </p:nvPicPr>
        <p:blipFill>
          <a:blip r:embed="rId2"/>
          <a:srcRect l="1755" t="932" r="98" b="92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83;p17"/>
          <p:cNvPicPr/>
          <p:nvPr/>
        </p:nvPicPr>
        <p:blipFill>
          <a:blip r:embed="rId2"/>
          <a:srcRect t="417" r="832" b="41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28600" y="3336480"/>
            <a:ext cx="1634760" cy="119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4882680" y="2006280"/>
            <a:ext cx="1634760" cy="119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title"/>
          </p:nvPr>
        </p:nvSpPr>
        <p:spPr>
          <a:xfrm>
            <a:off x="4882680" y="3336480"/>
            <a:ext cx="1634760" cy="119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title"/>
          </p:nvPr>
        </p:nvSpPr>
        <p:spPr>
          <a:xfrm>
            <a:off x="228600" y="462240"/>
            <a:ext cx="8686440" cy="58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93;p18"/>
          <p:cNvPicPr/>
          <p:nvPr/>
        </p:nvPicPr>
        <p:blipFill>
          <a:blip r:embed="rId2"/>
          <a:srcRect l="1755" t="942" r="98" b="92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0" y="3398760"/>
            <a:ext cx="590760" cy="73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228600" y="3398760"/>
            <a:ext cx="590760" cy="73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title"/>
          </p:nvPr>
        </p:nvSpPr>
        <p:spPr>
          <a:xfrm>
            <a:off x="228600" y="2512800"/>
            <a:ext cx="589680" cy="73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title"/>
          </p:nvPr>
        </p:nvSpPr>
        <p:spPr>
          <a:xfrm>
            <a:off x="4572000" y="2512800"/>
            <a:ext cx="590760" cy="73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title"/>
          </p:nvPr>
        </p:nvSpPr>
        <p:spPr>
          <a:xfrm>
            <a:off x="228600" y="1626840"/>
            <a:ext cx="590760" cy="73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title"/>
          </p:nvPr>
        </p:nvSpPr>
        <p:spPr>
          <a:xfrm>
            <a:off x="4572000" y="1626840"/>
            <a:ext cx="590760" cy="73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title"/>
          </p:nvPr>
        </p:nvSpPr>
        <p:spPr>
          <a:xfrm>
            <a:off x="228600" y="462240"/>
            <a:ext cx="8686440" cy="58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108;p19"/>
          <p:cNvPicPr/>
          <p:nvPr/>
        </p:nvPicPr>
        <p:blipFill>
          <a:blip r:embed="rId2"/>
          <a:srcRect l="827" t="827" r="827" b="827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35400" y="3071520"/>
            <a:ext cx="3877920" cy="89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4630320" y="1858680"/>
            <a:ext cx="3877920" cy="89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114;p20"/>
          <p:cNvPicPr/>
          <p:nvPr/>
        </p:nvPicPr>
        <p:blipFill>
          <a:blip r:embed="rId2"/>
          <a:srcRect l="827" t="827" r="827" b="82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767840" y="1742400"/>
            <a:ext cx="3737520" cy="1104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Google Shape;117;p20"/>
          <p:cNvSpPr/>
          <p:nvPr/>
        </p:nvSpPr>
        <p:spPr>
          <a:xfrm>
            <a:off x="5591520" y="2936520"/>
            <a:ext cx="291384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  <a:hlinkClick r:id="rId4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13;p3"/>
          <p:cNvPicPr/>
          <p:nvPr/>
        </p:nvPicPr>
        <p:blipFill>
          <a:blip r:embed="rId2"/>
          <a:srcRect l="827" t="827" r="827" b="827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73720" y="3070440"/>
            <a:ext cx="3350520" cy="187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7007040" y="1610280"/>
            <a:ext cx="1267920" cy="126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119;p21"/>
          <p:cNvPicPr/>
          <p:nvPr/>
        </p:nvPicPr>
        <p:blipFill>
          <a:blip r:embed="rId2"/>
          <a:srcRect l="1755" t="932" r="98" b="92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121;p22"/>
          <p:cNvPicPr/>
          <p:nvPr/>
        </p:nvPicPr>
        <p:blipFill>
          <a:blip r:embed="rId2"/>
          <a:srcRect l="827" t="827" r="827" b="827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23;p23"/>
          <p:cNvPicPr/>
          <p:nvPr/>
        </p:nvPicPr>
        <p:blipFill>
          <a:blip r:embed="rId2"/>
          <a:srcRect t="417" r="832" b="41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7;p4"/>
          <p:cNvPicPr/>
          <p:nvPr/>
        </p:nvPicPr>
        <p:blipFill>
          <a:blip r:embed="rId2"/>
          <a:srcRect t="417" r="832" b="41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body"/>
          </p:nvPr>
        </p:nvSpPr>
        <p:spPr>
          <a:xfrm>
            <a:off x="5576400" y="3472920"/>
            <a:ext cx="2530080" cy="44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21;p5"/>
          <p:cNvPicPr/>
          <p:nvPr/>
        </p:nvPicPr>
        <p:blipFill>
          <a:blip r:embed="rId2"/>
          <a:srcRect l="1755" t="932" r="98" b="932"/>
          <a:stretch/>
        </p:blipFill>
        <p:spPr>
          <a:xfrm flipH="1">
            <a:off x="36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31120" y="228600"/>
            <a:ext cx="868644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28;p6"/>
          <p:cNvPicPr/>
          <p:nvPr/>
        </p:nvPicPr>
        <p:blipFill>
          <a:blip r:embed="rId2"/>
          <a:srcRect t="417" b="417"/>
          <a:stretch/>
        </p:blipFill>
        <p:spPr>
          <a:xfrm>
            <a:off x="0" y="0"/>
            <a:ext cx="922032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31;p7"/>
          <p:cNvPicPr/>
          <p:nvPr/>
        </p:nvPicPr>
        <p:blipFill>
          <a:blip r:embed="rId2"/>
          <a:srcRect l="827" t="827" r="827" b="827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36;p8"/>
          <p:cNvPicPr/>
          <p:nvPr/>
        </p:nvPicPr>
        <p:blipFill>
          <a:blip r:embed="rId2"/>
          <a:srcRect l="827" t="827" r="827" b="827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39;p9"/>
          <p:cNvPicPr/>
          <p:nvPr/>
        </p:nvPicPr>
        <p:blipFill>
          <a:blip r:embed="rId2"/>
          <a:srcRect t="417" r="832" b="41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28600" y="462240"/>
            <a:ext cx="8686440" cy="58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title"/>
          </p:nvPr>
        </p:nvSpPr>
        <p:spPr>
          <a:xfrm>
            <a:off x="228600" y="4549680"/>
            <a:ext cx="3658320" cy="365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29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132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0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228600" y="1104840"/>
            <a:ext cx="8686440" cy="1647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800" dirty="0" err="1"/>
              <a:t>RunReady</a:t>
            </a:r>
            <a:r>
              <a:rPr lang="en-US" sz="4800" dirty="0"/>
              <a:t>: Campus Weather &amp; Air Quality Analyzer</a:t>
            </a:r>
            <a:endParaRPr lang="fr-FR" sz="45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2502900" y="3791856"/>
            <a:ext cx="4137837" cy="35926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20000"/>
          </a:bodyPr>
          <a:lstStyle/>
          <a:p>
            <a:r>
              <a:rPr lang="en-US" sz="1600" b="1" i="0" dirty="0">
                <a:effectLst/>
                <a:latin typeface="inherit"/>
              </a:rPr>
              <a:t>Szarka Móric</a:t>
            </a:r>
            <a:r>
              <a:rPr lang="en-US" sz="1600" b="0" i="0" dirty="0">
                <a:effectLst/>
                <a:latin typeface="inherit"/>
              </a:rPr>
              <a:t> </a:t>
            </a:r>
            <a:r>
              <a:rPr lang="en-US" sz="1600" b="0" i="1" dirty="0">
                <a:effectLst/>
                <a:latin typeface="inherit"/>
              </a:rPr>
              <a:t>(Project Leader), </a:t>
            </a:r>
            <a:r>
              <a:rPr lang="en-US" sz="1600" b="1" i="0" dirty="0">
                <a:effectLst/>
                <a:latin typeface="inherit"/>
              </a:rPr>
              <a:t>Békési Marcell</a:t>
            </a:r>
            <a:endParaRPr lang="en-US" sz="1600" b="0" i="0" dirty="0">
              <a:effectLst/>
              <a:latin typeface="inherit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73" name="Google Shape;141;p28"/>
          <p:cNvCxnSpPr/>
          <p:nvPr/>
        </p:nvCxnSpPr>
        <p:spPr>
          <a:xfrm>
            <a:off x="-76320" y="2943000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D909751-69A7-D58E-EDDE-5A3AC7BFF773}"/>
              </a:ext>
            </a:extLst>
          </p:cNvPr>
          <p:cNvSpPr txBox="1"/>
          <p:nvPr/>
        </p:nvSpPr>
        <p:spPr>
          <a:xfrm>
            <a:off x="1708117" y="3152537"/>
            <a:ext cx="5727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inherit"/>
              </a:rPr>
              <a:t>Smart City Infocommunication Technologies project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800" dirty="0"/>
              <a:t>Project Goal &amp; Overview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20928D5-F396-E9D9-6750-951691DBD527}"/>
              </a:ext>
            </a:extLst>
          </p:cNvPr>
          <p:cNvSpPr txBox="1">
            <a:spLocks/>
          </p:cNvSpPr>
          <p:nvPr/>
        </p:nvSpPr>
        <p:spPr>
          <a:xfrm>
            <a:off x="476280" y="1428480"/>
            <a:ext cx="819108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 Problem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Students and faculty often don't know if the local air quality and weather are safe and comfortable for outdoor activities like running or walking.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 Solution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A real-time monitoring dashboard that collects local weather (temperature, humidity, wind) and air pollution (AQI, PM2.5, PM10) data via APIs for the university area.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 Value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The system will calculate a custom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Runability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Score" (e.g., 0-100) combining these factors to provide an immediate recommendation on whether it's a good time to go outside.</a:t>
            </a:r>
            <a:endParaRPr lang="hu-H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5436A-34F6-4B47-698E-2C0385813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C6F7BBC2-8FD9-0A09-4D63-43422A86BCE4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800" dirty="0"/>
              <a:t>Task Breakdown &amp; Commitments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ADF8B66-D9F4-D179-F0D3-8C1D6ED2E97E}"/>
              </a:ext>
            </a:extLst>
          </p:cNvPr>
          <p:cNvSpPr txBox="1">
            <a:spLocks/>
          </p:cNvSpPr>
          <p:nvPr/>
        </p:nvSpPr>
        <p:spPr>
          <a:xfrm>
            <a:off x="476280" y="1428480"/>
            <a:ext cx="819108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 Ingestion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Write a Python script to reliably fetch real-time data from weather and AQI APIs.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Algorithm Development: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the logic for the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Runability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Score" that penalizes extreme heat/cold, high wind, and poor air quality.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Database Integration: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Set up an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InfluxDB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time-series database to store the historical and real-time data securely.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Dashboard Creation: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Design an interactive Grafana dashboard featuring current conditions, a 24-hour trend graph, and a clear "Go / Don't Go" run indicator.</a:t>
            </a:r>
          </a:p>
        </p:txBody>
      </p:sp>
    </p:spTree>
    <p:extLst>
      <p:ext uri="{BB962C8B-B14F-4D97-AF65-F5344CB8AC3E}">
        <p14:creationId xmlns:p14="http://schemas.microsoft.com/office/powerpoint/2010/main" val="3087248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8A41E-9CF5-F231-E120-D12F757DE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8BABE470-ED9F-E5FC-D037-99DF4CC05279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800" dirty="0"/>
              <a:t>System Architecture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1752DEB-E5E0-3B76-8680-B26CD1685A71}"/>
              </a:ext>
            </a:extLst>
          </p:cNvPr>
          <p:cNvSpPr txBox="1">
            <a:spLocks/>
          </p:cNvSpPr>
          <p:nvPr/>
        </p:nvSpPr>
        <p:spPr>
          <a:xfrm>
            <a:off x="476280" y="1428480"/>
            <a:ext cx="8191080" cy="33594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To ensure high availability and easy deployment, the entire stack will be orchestrated using </a:t>
            </a:r>
            <a:r>
              <a:rPr lang="en-US" sz="1800" b="1" dirty="0"/>
              <a:t>Docker</a:t>
            </a:r>
            <a:r>
              <a:rPr lang="en-US" sz="1800" dirty="0"/>
              <a:t> and </a:t>
            </a:r>
            <a:r>
              <a:rPr lang="en-US" sz="1800" b="1" dirty="0"/>
              <a:t>Docker Compose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required 3 Containers: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Data Collector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Custom Python image to fetch API data and push to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InfluxDB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InfluxDB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2.x for time-series data storage.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Visualization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Grafana for the real-time dashboard.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Orchestration: Docker Compose to manage networking and volume persistence between containers.</a:t>
            </a:r>
          </a:p>
        </p:txBody>
      </p:sp>
    </p:spTree>
    <p:extLst>
      <p:ext uri="{BB962C8B-B14F-4D97-AF65-F5344CB8AC3E}">
        <p14:creationId xmlns:p14="http://schemas.microsoft.com/office/powerpoint/2010/main" val="2759554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8A41E-9CF5-F231-E120-D12F757DE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8BABE470-ED9F-E5FC-D037-99DF4CC05279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800" dirty="0"/>
              <a:t>System Architecture II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1752DEB-E5E0-3B76-8680-B26CD1685A71}"/>
              </a:ext>
            </a:extLst>
          </p:cNvPr>
          <p:cNvSpPr txBox="1">
            <a:spLocks/>
          </p:cNvSpPr>
          <p:nvPr/>
        </p:nvSpPr>
        <p:spPr>
          <a:xfrm>
            <a:off x="476280" y="1428480"/>
            <a:ext cx="8191080" cy="33594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Team: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Personal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laptops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Docker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development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and testing.</a:t>
            </a:r>
          </a:p>
          <a:p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Department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 Server: 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Linux VM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Docker &amp; Docker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Compose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installed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Department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Resources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Minimum 2GB RAM, and a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stable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Internet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connection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Network Access: 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Port 3000 (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Grafana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opened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university-wide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access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13520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8A41E-9CF5-F231-E120-D12F757DE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8BABE470-ED9F-E5FC-D037-99DF4CC05279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800" dirty="0"/>
              <a:t>Real-Time Data Sources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1752DEB-E5E0-3B76-8680-B26CD1685A71}"/>
              </a:ext>
            </a:extLst>
          </p:cNvPr>
          <p:cNvSpPr txBox="1">
            <a:spLocks/>
          </p:cNvSpPr>
          <p:nvPr/>
        </p:nvSpPr>
        <p:spPr>
          <a:xfrm>
            <a:off x="476280" y="1428480"/>
            <a:ext cx="8191080" cy="33594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Data Sources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hu-HU" sz="1600" dirty="0">
                <a:latin typeface="Arial" panose="020B0604020202020204" pitchFamily="34" charset="0"/>
                <a:cs typeface="Arial" panose="020B0604020202020204" pitchFamily="34" charset="0"/>
              </a:rPr>
              <a:t>Open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Meteo</a:t>
            </a:r>
            <a:r>
              <a:rPr lang="hu-HU" sz="1600" dirty="0">
                <a:latin typeface="Arial" panose="020B0604020202020204" pitchFamily="34" charset="0"/>
                <a:cs typeface="Arial" panose="020B0604020202020204" pitchFamily="34" charset="0"/>
              </a:rPr>
              <a:t> API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hu-HU" sz="1600" dirty="0">
                <a:latin typeface="Arial" panose="020B0604020202020204" pitchFamily="34" charset="0"/>
                <a:cs typeface="Arial" panose="020B0604020202020204" pitchFamily="34" charset="0"/>
              </a:rPr>
              <a:t>World Air Quality Index (WAQI) API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BC5AA6E-37F0-4ACF-8022-D10DB1896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80" y="2525103"/>
            <a:ext cx="3482181" cy="220264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259DE28A-1B0E-4B16-AF8B-9C6AE7BE0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057" y="2522977"/>
            <a:ext cx="3650303" cy="22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961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8A41E-9CF5-F231-E120-D12F757DE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8BABE470-ED9F-E5FC-D037-99DF4CC05279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800" dirty="0"/>
              <a:t>Current State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1752DEB-E5E0-3B76-8680-B26CD1685A71}"/>
              </a:ext>
            </a:extLst>
          </p:cNvPr>
          <p:cNvSpPr txBox="1">
            <a:spLocks/>
          </p:cNvSpPr>
          <p:nvPr/>
        </p:nvSpPr>
        <p:spPr>
          <a:xfrm>
            <a:off x="476280" y="1428480"/>
            <a:ext cx="4191973" cy="33594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Infrastructure</a:t>
            </a:r>
            <a:r>
              <a:rPr lang="en-US" sz="1800" dirty="0"/>
              <a:t>: Full Docker Compose stack is live and stable.</a:t>
            </a:r>
          </a:p>
          <a:p>
            <a:r>
              <a:rPr lang="en-US" sz="1800" b="1" dirty="0"/>
              <a:t>Data Flow</a:t>
            </a:r>
            <a:r>
              <a:rPr lang="en-US" sz="1800" dirty="0"/>
              <a:t>: Python container is successfully fetching and writing API data to </a:t>
            </a:r>
            <a:r>
              <a:rPr lang="en-US" sz="1800" dirty="0" err="1"/>
              <a:t>InfluxDB</a:t>
            </a:r>
            <a:r>
              <a:rPr lang="en-US" sz="1800" dirty="0"/>
              <a:t>.</a:t>
            </a:r>
          </a:p>
          <a:p>
            <a:r>
              <a:rPr lang="en-US" sz="1800" b="1" dirty="0"/>
              <a:t>Visualization:</a:t>
            </a:r>
            <a:r>
              <a:rPr lang="en-US" sz="1800" dirty="0"/>
              <a:t> Grafana is connected and rendering real-time time-series graphs.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CB860D4-A254-4A12-B03F-8EFB74CFD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524" y="1349041"/>
            <a:ext cx="4352501" cy="244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8A41E-9CF5-F231-E120-D12F757DE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8BABE470-ED9F-E5FC-D037-99DF4CC05279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800" dirty="0"/>
              <a:t>Next steps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1752DEB-E5E0-3B76-8680-B26CD1685A71}"/>
              </a:ext>
            </a:extLst>
          </p:cNvPr>
          <p:cNvSpPr txBox="1">
            <a:spLocks/>
          </p:cNvSpPr>
          <p:nvPr/>
        </p:nvSpPr>
        <p:spPr>
          <a:xfrm>
            <a:off x="476280" y="1428480"/>
            <a:ext cx="8191080" cy="33594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Polished </a:t>
            </a:r>
            <a:r>
              <a:rPr lang="en-US" sz="1800" b="1" dirty="0" err="1"/>
              <a:t>Runability</a:t>
            </a:r>
            <a:r>
              <a:rPr lang="en-US" sz="1800" b="1" dirty="0"/>
              <a:t> Score: </a:t>
            </a:r>
            <a:r>
              <a:rPr lang="en-US" sz="1800" dirty="0"/>
              <a:t>Finalizing the weighted algorithm (balancing AQI vs. Temperature) to generate a single, accurate 0–100% score.</a:t>
            </a:r>
          </a:p>
          <a:p>
            <a:r>
              <a:rPr lang="en-US" sz="1800" b="1" dirty="0"/>
              <a:t>Actionable Dashboard: </a:t>
            </a:r>
            <a:r>
              <a:rPr lang="en-US" sz="1800" dirty="0"/>
              <a:t>Replacing basic charts with high-readability Gauges, Stat Panels, and Color-coded Alerts (Green/Yellow/Red).</a:t>
            </a:r>
          </a:p>
          <a:p>
            <a:r>
              <a:rPr lang="en-US" sz="1800" b="1" dirty="0"/>
              <a:t>Data Enrichment:</a:t>
            </a:r>
            <a:r>
              <a:rPr lang="en-US" sz="1800" dirty="0"/>
              <a:t> Integrating additional API parameters like PM2.5, Humidity, and Wind Speed into the final calculation logic.</a:t>
            </a:r>
          </a:p>
        </p:txBody>
      </p:sp>
    </p:spTree>
    <p:extLst>
      <p:ext uri="{BB962C8B-B14F-4D97-AF65-F5344CB8AC3E}">
        <p14:creationId xmlns:p14="http://schemas.microsoft.com/office/powerpoint/2010/main" val="3428976921"/>
      </p:ext>
    </p:extLst>
  </p:cSld>
  <p:clrMapOvr>
    <a:masterClrMapping/>
  </p:clrMapOvr>
</p:sld>
</file>

<file path=ppt/theme/theme1.xml><?xml version="1.0" encoding="utf-8"?>
<a:theme xmlns:a="http://schemas.openxmlformats.org/drawingml/2006/main" name="Blue Gradient by Slidesgo">
  <a:themeElements>
    <a:clrScheme name="Simple Light">
      <a:dk1>
        <a:srgbClr val="083C77"/>
      </a:dk1>
      <a:lt1>
        <a:srgbClr val="EBFCFF"/>
      </a:lt1>
      <a:dk2>
        <a:srgbClr val="083C77"/>
      </a:dk2>
      <a:lt2>
        <a:srgbClr val="9CE3E9"/>
      </a:lt2>
      <a:accent1>
        <a:srgbClr val="93C4E0"/>
      </a:accent1>
      <a:accent2>
        <a:srgbClr val="829EE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83C7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483</Words>
  <Application>Microsoft Office PowerPoint</Application>
  <PresentationFormat>Diavetítés a képernyőre (16:9 oldalarány)</PresentationFormat>
  <Paragraphs>43</Paragraphs>
  <Slides>8</Slides>
  <Notes>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8</vt:i4>
      </vt:variant>
      <vt:variant>
        <vt:lpstr>Téma</vt:lpstr>
      </vt:variant>
      <vt:variant>
        <vt:i4>2</vt:i4>
      </vt:variant>
      <vt:variant>
        <vt:lpstr>Diacímek</vt:lpstr>
      </vt:variant>
      <vt:variant>
        <vt:i4>8</vt:i4>
      </vt:variant>
    </vt:vector>
  </HeadingPairs>
  <TitlesOfParts>
    <vt:vector size="18" baseType="lpstr">
      <vt:lpstr>Aptos</vt:lpstr>
      <vt:lpstr>Arial</vt:lpstr>
      <vt:lpstr>Figtree</vt:lpstr>
      <vt:lpstr>inherit</vt:lpstr>
      <vt:lpstr>Karla</vt:lpstr>
      <vt:lpstr>OpenSymbol</vt:lpstr>
      <vt:lpstr>Symbol</vt:lpstr>
      <vt:lpstr>Wingdings</vt:lpstr>
      <vt:lpstr>Blue Gradient by Slidesgo</vt:lpstr>
      <vt:lpstr>Slidesgo Final Pages</vt:lpstr>
      <vt:lpstr>RunReady: Campus Weather &amp; Air Quality Analyzer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RunReady: Campus Weather &amp; Air Quality Analyzer</dc:title>
  <dc:creator>Móric Sz</dc:creator>
  <cp:lastModifiedBy>Szarka Móric</cp:lastModifiedBy>
  <cp:revision>10</cp:revision>
  <dcterms:modified xsi:type="dcterms:W3CDTF">2026-04-19T16:41:59Z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2026-03-04T09:47:39Z</dcterms:created>
  <dc:creator>Unknown Creator</dc:creator>
  <dc:description/>
  <dc:language>en-US</dc:language>
  <cp:lastModifiedBy>Unknown Creator</cp:lastModifiedBy>
  <dcterms:modified xsi:type="dcterms:W3CDTF">2026-03-04T09:47:39Z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