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71" r:id="rId2"/>
  </p:sldMasterIdLst>
  <p:notesMasterIdLst>
    <p:notesMasterId r:id="rId11"/>
  </p:notesMasterIdLst>
  <p:sldIdLst>
    <p:sldId id="256" r:id="rId3"/>
    <p:sldId id="263" r:id="rId4"/>
    <p:sldId id="264" r:id="rId5"/>
    <p:sldId id="267" r:id="rId6"/>
    <p:sldId id="270" r:id="rId7"/>
    <p:sldId id="265" r:id="rId8"/>
    <p:sldId id="271" r:id="rId9"/>
    <p:sldId id="272" r:id="rId1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FDBD9F-48B5-4A74-A3E8-BD086C7E2762}" v="16" dt="2026-05-16T12:26:45.6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5" d="100"/>
          <a:sy n="155" d="100"/>
        </p:scale>
        <p:origin x="6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ékési Marcell" userId="fd272b5d-aba7-4859-ad15-4ff310cc1494" providerId="ADAL" clId="{7E5E578C-271F-44B5-B3D5-C5359354E430}"/>
    <pc:docChg chg="undo custSel addSld delSld modSld sldOrd">
      <pc:chgData name="Békési Marcell" userId="fd272b5d-aba7-4859-ad15-4ff310cc1494" providerId="ADAL" clId="{7E5E578C-271F-44B5-B3D5-C5359354E430}" dt="2026-05-16T12:32:10.662" v="310" actId="2696"/>
      <pc:docMkLst>
        <pc:docMk/>
      </pc:docMkLst>
      <pc:sldChg chg="modSp mod">
        <pc:chgData name="Békési Marcell" userId="fd272b5d-aba7-4859-ad15-4ff310cc1494" providerId="ADAL" clId="{7E5E578C-271F-44B5-B3D5-C5359354E430}" dt="2026-05-16T11:59:10.561" v="18" actId="20577"/>
        <pc:sldMkLst>
          <pc:docMk/>
          <pc:sldMk cId="3087248400" sldId="264"/>
        </pc:sldMkLst>
        <pc:spChg chg="mod">
          <ac:chgData name="Békési Marcell" userId="fd272b5d-aba7-4859-ad15-4ff310cc1494" providerId="ADAL" clId="{7E5E578C-271F-44B5-B3D5-C5359354E430}" dt="2026-05-16T11:59:10.561" v="18" actId="20577"/>
          <ac:spMkLst>
            <pc:docMk/>
            <pc:sldMk cId="3087248400" sldId="264"/>
            <ac:spMk id="3" creationId="{3ADF8B66-D9F4-D179-F0D3-8C1D6ED2E97E}"/>
          </ac:spMkLst>
        </pc:spChg>
      </pc:sldChg>
      <pc:sldChg chg="del">
        <pc:chgData name="Békési Marcell" userId="fd272b5d-aba7-4859-ad15-4ff310cc1494" providerId="ADAL" clId="{7E5E578C-271F-44B5-B3D5-C5359354E430}" dt="2026-05-16T12:32:10.662" v="310" actId="2696"/>
        <pc:sldMkLst>
          <pc:docMk/>
          <pc:sldMk cId="30793635" sldId="268"/>
        </pc:sldMkLst>
      </pc:sldChg>
      <pc:sldChg chg="del">
        <pc:chgData name="Békési Marcell" userId="fd272b5d-aba7-4859-ad15-4ff310cc1494" providerId="ADAL" clId="{7E5E578C-271F-44B5-B3D5-C5359354E430}" dt="2026-05-16T11:59:31.736" v="19" actId="2696"/>
        <pc:sldMkLst>
          <pc:docMk/>
          <pc:sldMk cId="3428976921" sldId="269"/>
        </pc:sldMkLst>
      </pc:sldChg>
      <pc:sldChg chg="addSp modSp add mod ord">
        <pc:chgData name="Békési Marcell" userId="fd272b5d-aba7-4859-ad15-4ff310cc1494" providerId="ADAL" clId="{7E5E578C-271F-44B5-B3D5-C5359354E430}" dt="2026-05-16T12:28:49.700" v="289" actId="6549"/>
        <pc:sldMkLst>
          <pc:docMk/>
          <pc:sldMk cId="754597951" sldId="271"/>
        </pc:sldMkLst>
        <pc:spChg chg="add">
          <ac:chgData name="Békési Marcell" userId="fd272b5d-aba7-4859-ad15-4ff310cc1494" providerId="ADAL" clId="{7E5E578C-271F-44B5-B3D5-C5359354E430}" dt="2026-05-16T12:26:29.504" v="258"/>
          <ac:spMkLst>
            <pc:docMk/>
            <pc:sldMk cId="754597951" sldId="271"/>
            <ac:spMk id="2" creationId="{1D7B4FE0-69CE-CAE1-9BCC-69E2A3AE91F6}"/>
          </ac:spMkLst>
        </pc:spChg>
        <pc:spChg chg="mod">
          <ac:chgData name="Békési Marcell" userId="fd272b5d-aba7-4859-ad15-4ff310cc1494" providerId="ADAL" clId="{7E5E578C-271F-44B5-B3D5-C5359354E430}" dt="2026-05-16T12:28:49.700" v="289" actId="6549"/>
          <ac:spMkLst>
            <pc:docMk/>
            <pc:sldMk cId="754597951" sldId="271"/>
            <ac:spMk id="3" creationId="{196F94D8-A04D-B61A-865E-4483E9A7BF5E}"/>
          </ac:spMkLst>
        </pc:spChg>
        <pc:spChg chg="add mod">
          <ac:chgData name="Békési Marcell" userId="fd272b5d-aba7-4859-ad15-4ff310cc1494" providerId="ADAL" clId="{7E5E578C-271F-44B5-B3D5-C5359354E430}" dt="2026-05-16T12:26:45.127" v="262"/>
          <ac:spMkLst>
            <pc:docMk/>
            <pc:sldMk cId="754597951" sldId="271"/>
            <ac:spMk id="4" creationId="{A256ABF2-3D0C-23B2-935B-EA19505B99FF}"/>
          </ac:spMkLst>
        </pc:spChg>
        <pc:spChg chg="mod">
          <ac:chgData name="Békési Marcell" userId="fd272b5d-aba7-4859-ad15-4ff310cc1494" providerId="ADAL" clId="{7E5E578C-271F-44B5-B3D5-C5359354E430}" dt="2026-05-16T12:02:00.661" v="33" actId="20577"/>
          <ac:spMkLst>
            <pc:docMk/>
            <pc:sldMk cId="754597951" sldId="271"/>
            <ac:spMk id="92" creationId="{2A6D3FCB-9798-35E1-5627-605A93C085F6}"/>
          </ac:spMkLst>
        </pc:spChg>
        <pc:picChg chg="add mod">
          <ac:chgData name="Békési Marcell" userId="fd272b5d-aba7-4859-ad15-4ff310cc1494" providerId="ADAL" clId="{7E5E578C-271F-44B5-B3D5-C5359354E430}" dt="2026-05-16T12:28:40.134" v="287" actId="1076"/>
          <ac:picMkLst>
            <pc:docMk/>
            <pc:sldMk cId="754597951" sldId="271"/>
            <ac:picMk id="6" creationId="{385F7A32-3837-CEFB-34AE-10E701E42423}"/>
          </ac:picMkLst>
        </pc:picChg>
        <pc:picChg chg="add mod">
          <ac:chgData name="Békési Marcell" userId="fd272b5d-aba7-4859-ad15-4ff310cc1494" providerId="ADAL" clId="{7E5E578C-271F-44B5-B3D5-C5359354E430}" dt="2026-05-16T12:28:36.646" v="286" actId="1076"/>
          <ac:picMkLst>
            <pc:docMk/>
            <pc:sldMk cId="754597951" sldId="271"/>
            <ac:picMk id="8" creationId="{7D43161C-603D-9E75-66A7-0C25B7865BCD}"/>
          </ac:picMkLst>
        </pc:picChg>
      </pc:sldChg>
      <pc:sldChg chg="modSp add mod">
        <pc:chgData name="Békési Marcell" userId="fd272b5d-aba7-4859-ad15-4ff310cc1494" providerId="ADAL" clId="{7E5E578C-271F-44B5-B3D5-C5359354E430}" dt="2026-05-16T12:30:56.461" v="309" actId="20577"/>
        <pc:sldMkLst>
          <pc:docMk/>
          <pc:sldMk cId="344086299" sldId="272"/>
        </pc:sldMkLst>
        <pc:spChg chg="mod">
          <ac:chgData name="Békési Marcell" userId="fd272b5d-aba7-4859-ad15-4ff310cc1494" providerId="ADAL" clId="{7E5E578C-271F-44B5-B3D5-C5359354E430}" dt="2026-05-16T12:30:56.461" v="309" actId="20577"/>
          <ac:spMkLst>
            <pc:docMk/>
            <pc:sldMk cId="344086299" sldId="272"/>
            <ac:spMk id="3" creationId="{2DEFB94E-28F4-9140-5DA5-8ABB37F27B64}"/>
          </ac:spMkLst>
        </pc:spChg>
        <pc:spChg chg="mod">
          <ac:chgData name="Békési Marcell" userId="fd272b5d-aba7-4859-ad15-4ff310cc1494" providerId="ADAL" clId="{7E5E578C-271F-44B5-B3D5-C5359354E430}" dt="2026-05-16T12:02:16.221" v="36" actId="20577"/>
          <ac:spMkLst>
            <pc:docMk/>
            <pc:sldMk cId="344086299" sldId="272"/>
            <ac:spMk id="92" creationId="{32A85256-C8EF-8B9B-5E8F-182B27D9989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EF220A-4AA3-4FC8-A8A6-C87403137C1F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B7AD90-D1E2-4F89-AE52-374EB16928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0689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7AD90-D1E2-4F89-AE52-374EB169284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675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EB508-750B-0069-C18D-3D9179E90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D65F7-319E-AEBC-A682-C859412F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9E3FD-1323-AED0-419B-7D83D1EEB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CDA0CE-33A1-DD1B-C8DE-A7A859FCB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7AD90-D1E2-4F89-AE52-374EB169284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0685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574C3-49F3-F193-A30F-CC7335FD1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EAE6B5-DDA9-1274-8953-7DAF9F50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DF4632-AC11-8479-112E-AD15E525B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3EC55-2E53-A99C-B125-E1C24C5796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7AD90-D1E2-4F89-AE52-374EB169284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6613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574C3-49F3-F193-A30F-CC7335FD1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EAE6B5-DDA9-1274-8953-7DAF9F50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DF4632-AC11-8479-112E-AD15E525B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3EC55-2E53-A99C-B125-E1C24C5796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7AD90-D1E2-4F89-AE52-374EB169284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3830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574C3-49F3-F193-A30F-CC7335FD1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EAE6B5-DDA9-1274-8953-7DAF9F50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DF4632-AC11-8479-112E-AD15E525B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3EC55-2E53-A99C-B125-E1C24C5796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7AD90-D1E2-4F89-AE52-374EB169284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5615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3734E-D0ED-C269-0BF6-4904ADC3B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4141A8-3F09-7B9E-FF81-205BD9D75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DAE05A-93F7-CB41-3478-7B1DE32AB6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A18F98-26B0-25DF-FC43-734299A98E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7AD90-D1E2-4F89-AE52-374EB169284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600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22292-15DC-40E6-F071-8A9208B49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2E7F9E-453C-AFDC-B4FD-7ADB49811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DD6682-4DA0-B895-1A7D-CA475A4D97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4AECDA-F8A0-5C8C-69F3-86B753A4D6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7AD90-D1E2-4F89-AE52-374EB169284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5995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9;p2"/>
          <p:cNvPicPr/>
          <p:nvPr/>
        </p:nvPicPr>
        <p:blipFill>
          <a:blip r:embed="rId2"/>
          <a:srcRect l="827" t="827" r="827" b="827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28600" y="1102320"/>
            <a:ext cx="8686440" cy="1646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47;p11"/>
          <p:cNvPicPr/>
          <p:nvPr/>
        </p:nvPicPr>
        <p:blipFill>
          <a:blip r:embed="rId2"/>
          <a:srcRect l="827" t="827" r="827" b="827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284120" y="1953000"/>
            <a:ext cx="6575760" cy="79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2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52;p13"/>
          <p:cNvPicPr/>
          <p:nvPr/>
        </p:nvPicPr>
        <p:blipFill>
          <a:blip r:embed="rId2"/>
          <a:srcRect l="961" t="922" r="950" b="932"/>
          <a:stretch/>
        </p:blipFill>
        <p:spPr>
          <a:xfrm flipH="1">
            <a:off x="5400" y="0"/>
            <a:ext cx="913860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82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title"/>
          </p:nvPr>
        </p:nvSpPr>
        <p:spPr>
          <a:xfrm>
            <a:off x="7034760" y="2030040"/>
            <a:ext cx="625320" cy="488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title"/>
          </p:nvPr>
        </p:nvSpPr>
        <p:spPr>
          <a:xfrm>
            <a:off x="2498400" y="2030040"/>
            <a:ext cx="625320" cy="488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title"/>
          </p:nvPr>
        </p:nvSpPr>
        <p:spPr>
          <a:xfrm>
            <a:off x="231120" y="2030040"/>
            <a:ext cx="624240" cy="488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title"/>
          </p:nvPr>
        </p:nvSpPr>
        <p:spPr>
          <a:xfrm>
            <a:off x="4766400" y="2030040"/>
            <a:ext cx="625320" cy="488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title"/>
          </p:nvPr>
        </p:nvSpPr>
        <p:spPr>
          <a:xfrm>
            <a:off x="2499840" y="3377160"/>
            <a:ext cx="624240" cy="488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7"/>
          <p:cNvSpPr>
            <a:spLocks noGrp="1"/>
          </p:cNvSpPr>
          <p:nvPr>
            <p:ph type="title"/>
          </p:nvPr>
        </p:nvSpPr>
        <p:spPr>
          <a:xfrm>
            <a:off x="4767480" y="3377160"/>
            <a:ext cx="624240" cy="488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8"/>
          <p:cNvSpPr>
            <a:spLocks noGrp="1"/>
          </p:cNvSpPr>
          <p:nvPr>
            <p:ph type="title"/>
          </p:nvPr>
        </p:nvSpPr>
        <p:spPr>
          <a:xfrm>
            <a:off x="7034760" y="3377160"/>
            <a:ext cx="624240" cy="488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9"/>
          <p:cNvSpPr>
            <a:spLocks noGrp="1"/>
          </p:cNvSpPr>
          <p:nvPr>
            <p:ph type="title"/>
          </p:nvPr>
        </p:nvSpPr>
        <p:spPr>
          <a:xfrm>
            <a:off x="232200" y="3377160"/>
            <a:ext cx="624240" cy="488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71;p14"/>
          <p:cNvPicPr/>
          <p:nvPr/>
        </p:nvPicPr>
        <p:blipFill>
          <a:blip r:embed="rId2"/>
          <a:srcRect t="417" r="832" b="417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1051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75;p15"/>
          <p:cNvPicPr/>
          <p:nvPr/>
        </p:nvPicPr>
        <p:blipFill>
          <a:blip r:embed="rId2"/>
          <a:srcRect l="513" r="513" b="185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233640" y="228600"/>
            <a:ext cx="8686440" cy="82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228600" y="1370160"/>
            <a:ext cx="3697560" cy="3544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572360" y="1524960"/>
            <a:ext cx="4236840" cy="3125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ONLY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80;p16"/>
          <p:cNvPicPr/>
          <p:nvPr/>
        </p:nvPicPr>
        <p:blipFill>
          <a:blip r:embed="rId2"/>
          <a:srcRect l="1755" t="932" r="98" b="922"/>
          <a:stretch/>
        </p:blipFill>
        <p:spPr>
          <a:xfrm flipH="1">
            <a:off x="36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82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83;p17"/>
          <p:cNvPicPr/>
          <p:nvPr/>
        </p:nvPicPr>
        <p:blipFill>
          <a:blip r:embed="rId2"/>
          <a:srcRect t="417" r="832" b="417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228600" y="3336480"/>
            <a:ext cx="1634760" cy="1192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16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title"/>
          </p:nvPr>
        </p:nvSpPr>
        <p:spPr>
          <a:xfrm>
            <a:off x="4882680" y="2006280"/>
            <a:ext cx="1634760" cy="1192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16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title"/>
          </p:nvPr>
        </p:nvSpPr>
        <p:spPr>
          <a:xfrm>
            <a:off x="4882680" y="3336480"/>
            <a:ext cx="1634760" cy="1192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16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title"/>
          </p:nvPr>
        </p:nvSpPr>
        <p:spPr>
          <a:xfrm>
            <a:off x="228600" y="462240"/>
            <a:ext cx="8686440" cy="588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93;p18"/>
          <p:cNvPicPr/>
          <p:nvPr/>
        </p:nvPicPr>
        <p:blipFill>
          <a:blip r:embed="rId2"/>
          <a:srcRect l="1755" t="942" r="98" b="922"/>
          <a:stretch/>
        </p:blipFill>
        <p:spPr>
          <a:xfrm flipH="1">
            <a:off x="36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0" y="3398760"/>
            <a:ext cx="590760" cy="73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title"/>
          </p:nvPr>
        </p:nvSpPr>
        <p:spPr>
          <a:xfrm>
            <a:off x="228600" y="3398760"/>
            <a:ext cx="590760" cy="73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title"/>
          </p:nvPr>
        </p:nvSpPr>
        <p:spPr>
          <a:xfrm>
            <a:off x="228600" y="2512800"/>
            <a:ext cx="589680" cy="73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title"/>
          </p:nvPr>
        </p:nvSpPr>
        <p:spPr>
          <a:xfrm>
            <a:off x="4572000" y="2512800"/>
            <a:ext cx="590760" cy="73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title"/>
          </p:nvPr>
        </p:nvSpPr>
        <p:spPr>
          <a:xfrm>
            <a:off x="228600" y="1626840"/>
            <a:ext cx="590760" cy="73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title"/>
          </p:nvPr>
        </p:nvSpPr>
        <p:spPr>
          <a:xfrm>
            <a:off x="4572000" y="1626840"/>
            <a:ext cx="590760" cy="73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title"/>
          </p:nvPr>
        </p:nvSpPr>
        <p:spPr>
          <a:xfrm>
            <a:off x="228600" y="462240"/>
            <a:ext cx="8686440" cy="588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108;p19"/>
          <p:cNvPicPr/>
          <p:nvPr/>
        </p:nvPicPr>
        <p:blipFill>
          <a:blip r:embed="rId2"/>
          <a:srcRect l="827" t="827" r="827" b="827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35400" y="3071520"/>
            <a:ext cx="3877920" cy="898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4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title"/>
          </p:nvPr>
        </p:nvSpPr>
        <p:spPr>
          <a:xfrm>
            <a:off x="4630320" y="1858680"/>
            <a:ext cx="3877920" cy="898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r">
              <a:lnSpc>
                <a:spcPct val="100000"/>
              </a:lnSpc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4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114;p20"/>
          <p:cNvPicPr/>
          <p:nvPr/>
        </p:nvPicPr>
        <p:blipFill>
          <a:blip r:embed="rId2"/>
          <a:srcRect l="827" t="827" r="827" b="827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767840" y="1742400"/>
            <a:ext cx="3737520" cy="1104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2" name="Google Shape;117;p20"/>
          <p:cNvSpPr/>
          <p:nvPr/>
        </p:nvSpPr>
        <p:spPr>
          <a:xfrm>
            <a:off x="5591520" y="2936520"/>
            <a:ext cx="2913840" cy="73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Karla"/>
                <a:ea typeface="Karla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Karla"/>
                <a:ea typeface="Karla"/>
              </a:rPr>
              <a:t>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Karla"/>
                <a:ea typeface="Karla"/>
                <a:hlinkClick r:id="rId3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Karla"/>
                <a:ea typeface="Karla"/>
              </a:rPr>
              <a:t>, and includes icons,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Karla"/>
                <a:ea typeface="Karla"/>
                <a:hlinkClick r:id="rId4"/>
              </a:rPr>
              <a:t>Freepik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Karla"/>
                <a:ea typeface="Karla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13;p3"/>
          <p:cNvPicPr/>
          <p:nvPr/>
        </p:nvPicPr>
        <p:blipFill>
          <a:blip r:embed="rId2"/>
          <a:srcRect l="827" t="827" r="827" b="827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73720" y="3070440"/>
            <a:ext cx="3350520" cy="187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5" name="PlaceHolder 2"/>
          <p:cNvSpPr>
            <a:spLocks noGrp="1"/>
          </p:cNvSpPr>
          <p:nvPr>
            <p:ph type="title"/>
          </p:nvPr>
        </p:nvSpPr>
        <p:spPr>
          <a:xfrm>
            <a:off x="7007040" y="1610280"/>
            <a:ext cx="1267920" cy="1269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Figtree"/>
                <a:ea typeface="Figtree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119;p21"/>
          <p:cNvPicPr/>
          <p:nvPr/>
        </p:nvPicPr>
        <p:blipFill>
          <a:blip r:embed="rId2"/>
          <a:srcRect l="1755" t="932" r="98" b="922"/>
          <a:stretch/>
        </p:blipFill>
        <p:spPr>
          <a:xfrm flipH="1">
            <a:off x="36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121;p22"/>
          <p:cNvPicPr/>
          <p:nvPr/>
        </p:nvPicPr>
        <p:blipFill>
          <a:blip r:embed="rId2"/>
          <a:srcRect l="827" t="827" r="827" b="827"/>
          <a:stretch/>
        </p:blipFill>
        <p:spPr>
          <a:xfrm flipH="1">
            <a:off x="36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123;p23"/>
          <p:cNvPicPr/>
          <p:nvPr/>
        </p:nvPicPr>
        <p:blipFill>
          <a:blip r:embed="rId2"/>
          <a:srcRect t="417" r="832" b="417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17;p4"/>
          <p:cNvPicPr/>
          <p:nvPr/>
        </p:nvPicPr>
        <p:blipFill>
          <a:blip r:embed="rId2"/>
          <a:srcRect t="417" r="832" b="417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body"/>
          </p:nvPr>
        </p:nvSpPr>
        <p:spPr>
          <a:xfrm>
            <a:off x="5576400" y="3472920"/>
            <a:ext cx="2530080" cy="443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82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21;p5"/>
          <p:cNvPicPr/>
          <p:nvPr/>
        </p:nvPicPr>
        <p:blipFill>
          <a:blip r:embed="rId2"/>
          <a:srcRect l="1755" t="932" r="98" b="932"/>
          <a:stretch/>
        </p:blipFill>
        <p:spPr>
          <a:xfrm flipH="1">
            <a:off x="36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231120" y="228600"/>
            <a:ext cx="8686440" cy="82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28;p6"/>
          <p:cNvPicPr/>
          <p:nvPr/>
        </p:nvPicPr>
        <p:blipFill>
          <a:blip r:embed="rId2"/>
          <a:srcRect t="417" b="417"/>
          <a:stretch/>
        </p:blipFill>
        <p:spPr>
          <a:xfrm>
            <a:off x="0" y="0"/>
            <a:ext cx="922032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82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31;p7"/>
          <p:cNvPicPr/>
          <p:nvPr/>
        </p:nvPicPr>
        <p:blipFill>
          <a:blip r:embed="rId2"/>
          <a:srcRect l="827" t="827" r="827" b="827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3998160" cy="1445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1609560" y="2066040"/>
            <a:ext cx="3823920" cy="253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5715720" y="0"/>
            <a:ext cx="342792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36;p8"/>
          <p:cNvPicPr/>
          <p:nvPr/>
        </p:nvPicPr>
        <p:blipFill>
          <a:blip r:embed="rId2"/>
          <a:srcRect l="827" t="827" r="827" b="827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388160" y="1307160"/>
            <a:ext cx="6367320" cy="2529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39;p9"/>
          <p:cNvPicPr/>
          <p:nvPr/>
        </p:nvPicPr>
        <p:blipFill>
          <a:blip r:embed="rId2"/>
          <a:srcRect t="417" r="832" b="417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228600" y="462240"/>
            <a:ext cx="8686440" cy="588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5" name="PlaceHolder 2"/>
          <p:cNvSpPr>
            <a:spLocks noGrp="1"/>
          </p:cNvSpPr>
          <p:nvPr>
            <p:ph type="title"/>
          </p:nvPr>
        </p:nvSpPr>
        <p:spPr>
          <a:xfrm>
            <a:off x="228600" y="4549680"/>
            <a:ext cx="3658320" cy="365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mple-light-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129;p26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1732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132;p27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728640" y="539640"/>
            <a:ext cx="334728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0" name="PlaceHolder 2"/>
          <p:cNvSpPr>
            <a:spLocks noGrp="1"/>
          </p:cNvSpPr>
          <p:nvPr>
            <p:ph type="title"/>
          </p:nvPr>
        </p:nvSpPr>
        <p:spPr>
          <a:xfrm>
            <a:off x="4977720" y="539640"/>
            <a:ext cx="345816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228600" y="1104840"/>
            <a:ext cx="8686440" cy="1647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4800" dirty="0" err="1"/>
              <a:t>RunReady</a:t>
            </a:r>
            <a:r>
              <a:rPr lang="en-US" sz="4800" dirty="0"/>
              <a:t>: Campus Weather &amp; Air Quality Analyzer</a:t>
            </a:r>
            <a:endParaRPr lang="fr-FR" sz="45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subTitle"/>
          </p:nvPr>
        </p:nvSpPr>
        <p:spPr>
          <a:xfrm>
            <a:off x="2502900" y="3791856"/>
            <a:ext cx="4137837" cy="35926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2500" lnSpcReduction="20000"/>
          </a:bodyPr>
          <a:lstStyle/>
          <a:p>
            <a:r>
              <a:rPr lang="en-US" sz="1600" b="1" i="0" dirty="0">
                <a:effectLst/>
                <a:latin typeface="inherit"/>
              </a:rPr>
              <a:t>Szarka Móric</a:t>
            </a:r>
            <a:r>
              <a:rPr lang="en-US" sz="1600" b="0" i="0" dirty="0">
                <a:effectLst/>
                <a:latin typeface="inherit"/>
              </a:rPr>
              <a:t> </a:t>
            </a:r>
            <a:r>
              <a:rPr lang="en-US" sz="1600" b="0" i="1" dirty="0">
                <a:effectLst/>
                <a:latin typeface="inherit"/>
              </a:rPr>
              <a:t>(Project Leader), </a:t>
            </a:r>
            <a:r>
              <a:rPr lang="en-US" sz="1600" b="1" i="0" dirty="0">
                <a:effectLst/>
                <a:latin typeface="inherit"/>
              </a:rPr>
              <a:t>Békési Marcell</a:t>
            </a:r>
            <a:endParaRPr lang="en-US" sz="1600" b="0" i="0" dirty="0">
              <a:effectLst/>
              <a:latin typeface="inherit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cxnSp>
        <p:nvCxnSpPr>
          <p:cNvPr id="73" name="Google Shape;141;p28"/>
          <p:cNvCxnSpPr/>
          <p:nvPr/>
        </p:nvCxnSpPr>
        <p:spPr>
          <a:xfrm>
            <a:off x="-76320" y="2943000"/>
            <a:ext cx="9302040" cy="360"/>
          </a:xfrm>
          <a:prstGeom prst="straightConnector1">
            <a:avLst/>
          </a:prstGeom>
          <a:ln w="9525">
            <a:solidFill>
              <a:srgbClr val="083C77"/>
            </a:solidFill>
            <a:round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D909751-69A7-D58E-EDDE-5A3AC7BFF773}"/>
              </a:ext>
            </a:extLst>
          </p:cNvPr>
          <p:cNvSpPr txBox="1"/>
          <p:nvPr/>
        </p:nvSpPr>
        <p:spPr>
          <a:xfrm>
            <a:off x="1708117" y="3152537"/>
            <a:ext cx="57274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inherit"/>
              </a:rPr>
              <a:t>Smart City Infocommunication Technologies project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/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2800" dirty="0"/>
              <a:t>Project Goal &amp; Overview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20928D5-F396-E9D9-6750-951691DBD527}"/>
              </a:ext>
            </a:extLst>
          </p:cNvPr>
          <p:cNvSpPr txBox="1">
            <a:spLocks/>
          </p:cNvSpPr>
          <p:nvPr/>
        </p:nvSpPr>
        <p:spPr>
          <a:xfrm>
            <a:off x="476280" y="1428480"/>
            <a:ext cx="8191080" cy="323874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 Problem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Students and faculty often don't know if the local air quality and weather are safe and comfortable for outdoor activities like running or walking.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 Solution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A real-time monitoring dashboard that collects local weather (temperature, humidity, wind) and air pollution (AQI, PM2.5, PM10) data via APIs for the university area.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 Value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The system will calculate a custom "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Runability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Score" (0-100) combining these factors to provide an immediate recommendation on whether it's a good time to go outside.</a:t>
            </a:r>
            <a:endParaRPr lang="hu-H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5436A-34F6-4B47-698E-2C0385813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C6F7BBC2-8FD9-0A09-4D63-43422A86BCE4}"/>
              </a:ext>
            </a:extLst>
          </p:cNvPr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2800" dirty="0"/>
              <a:t>Task Breakdown &amp; Commitments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ADF8B66-D9F4-D179-F0D3-8C1D6ED2E97E}"/>
              </a:ext>
            </a:extLst>
          </p:cNvPr>
          <p:cNvSpPr txBox="1">
            <a:spLocks/>
          </p:cNvSpPr>
          <p:nvPr/>
        </p:nvSpPr>
        <p:spPr>
          <a:xfrm>
            <a:off x="476280" y="1428480"/>
            <a:ext cx="8191080" cy="315089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Data Ingestion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Write a Python script to reliably fetch real-time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forecasted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data from weather and AQI APIs.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Algorithm Development: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Create the logic for the "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Runability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Score" that penalizes extreme heat/cold, high wind, and poor air quality.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Database Integration: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Set up an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InfluxDB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time-series database to store the historical and real-time data securely.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Dashboard Creation: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Design an interactive Grafana dashboard featuring current conditions, the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Runabilty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score, and a clear "Go / Don't Go" run indicator.</a:t>
            </a:r>
          </a:p>
        </p:txBody>
      </p:sp>
    </p:spTree>
    <p:extLst>
      <p:ext uri="{BB962C8B-B14F-4D97-AF65-F5344CB8AC3E}">
        <p14:creationId xmlns:p14="http://schemas.microsoft.com/office/powerpoint/2010/main" val="3087248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8A41E-9CF5-F231-E120-D12F757DE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8BABE470-ED9F-E5FC-D037-99DF4CC05279}"/>
              </a:ext>
            </a:extLst>
          </p:cNvPr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2800" dirty="0"/>
              <a:t>System Architecture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1752DEB-E5E0-3B76-8680-B26CD1685A71}"/>
              </a:ext>
            </a:extLst>
          </p:cNvPr>
          <p:cNvSpPr txBox="1">
            <a:spLocks/>
          </p:cNvSpPr>
          <p:nvPr/>
        </p:nvSpPr>
        <p:spPr>
          <a:xfrm>
            <a:off x="476280" y="1428480"/>
            <a:ext cx="8191080" cy="335942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To ensure high availability and easy deployment, the entire stack will be orchestrated using </a:t>
            </a:r>
            <a:r>
              <a:rPr lang="en-US" sz="1800" b="1" dirty="0"/>
              <a:t>Docker</a:t>
            </a:r>
            <a:r>
              <a:rPr lang="en-US" sz="1800" dirty="0"/>
              <a:t> and </a:t>
            </a:r>
            <a:r>
              <a:rPr lang="en-US" sz="1800" b="1" dirty="0"/>
              <a:t>Docker Compose</a:t>
            </a:r>
            <a:r>
              <a:rPr lang="en-US" sz="1800" dirty="0"/>
              <a:t>.</a:t>
            </a:r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The required 3 Containers: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Data Collector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: Custom Python image to fetch API data and push to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InfluxDB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Database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InfluxDB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2.x for time-series data storage.</a:t>
            </a:r>
          </a:p>
          <a:p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Visualization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: Grafana for the real-time dashboard.</a:t>
            </a:r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Orchestration: Docker Compose to manage networking and volume persistence between containers.</a:t>
            </a:r>
          </a:p>
        </p:txBody>
      </p:sp>
    </p:spTree>
    <p:extLst>
      <p:ext uri="{BB962C8B-B14F-4D97-AF65-F5344CB8AC3E}">
        <p14:creationId xmlns:p14="http://schemas.microsoft.com/office/powerpoint/2010/main" val="27595548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8A41E-9CF5-F231-E120-D12F757DE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8BABE470-ED9F-E5FC-D037-99DF4CC05279}"/>
              </a:ext>
            </a:extLst>
          </p:cNvPr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2800" dirty="0"/>
              <a:t>System Architecture II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1752DEB-E5E0-3B76-8680-B26CD1685A71}"/>
              </a:ext>
            </a:extLst>
          </p:cNvPr>
          <p:cNvSpPr txBox="1">
            <a:spLocks/>
          </p:cNvSpPr>
          <p:nvPr/>
        </p:nvSpPr>
        <p:spPr>
          <a:xfrm>
            <a:off x="476280" y="1428480"/>
            <a:ext cx="8191080" cy="335942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Development</a:t>
            </a:r>
            <a:r>
              <a:rPr lang="hu-HU" sz="20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Personal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laptops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Docker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development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and testing.</a:t>
            </a:r>
          </a:p>
          <a:p>
            <a:r>
              <a:rPr lang="hu-HU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Department</a:t>
            </a:r>
            <a:r>
              <a:rPr lang="hu-HU" sz="2000" b="1" dirty="0">
                <a:latin typeface="Arial" panose="020B0604020202020204" pitchFamily="34" charset="0"/>
                <a:cs typeface="Arial" panose="020B0604020202020204" pitchFamily="34" charset="0"/>
              </a:rPr>
              <a:t> Server: 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Linux VM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Docker &amp; Docker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Compose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installed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(BME Cloud)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hu-HU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Department</a:t>
            </a:r>
            <a:r>
              <a:rPr lang="hu-HU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Resources</a:t>
            </a:r>
            <a:r>
              <a:rPr lang="hu-HU" sz="20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Minimum 2GB RAM, and a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stable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Internet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connection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hu-HU" sz="2000" b="1" dirty="0">
                <a:latin typeface="Arial" panose="020B0604020202020204" pitchFamily="34" charset="0"/>
                <a:cs typeface="Arial" panose="020B0604020202020204" pitchFamily="34" charset="0"/>
              </a:rPr>
              <a:t>Network Access: 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Port 3000 (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Grafana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opened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university-wide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latin typeface="Arial" panose="020B0604020202020204" pitchFamily="34" charset="0"/>
                <a:cs typeface="Arial" panose="020B0604020202020204" pitchFamily="34" charset="0"/>
              </a:rPr>
              <a:t>access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713520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8A41E-9CF5-F231-E120-D12F757DE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8BABE470-ED9F-E5FC-D037-99DF4CC05279}"/>
              </a:ext>
            </a:extLst>
          </p:cNvPr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2800" dirty="0"/>
              <a:t>Real-Time Data Sources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1752DEB-E5E0-3B76-8680-B26CD1685A71}"/>
              </a:ext>
            </a:extLst>
          </p:cNvPr>
          <p:cNvSpPr txBox="1">
            <a:spLocks/>
          </p:cNvSpPr>
          <p:nvPr/>
        </p:nvSpPr>
        <p:spPr>
          <a:xfrm>
            <a:off x="476280" y="1428480"/>
            <a:ext cx="8191080" cy="335942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000" b="1" dirty="0">
                <a:latin typeface="Arial" panose="020B0604020202020204" pitchFamily="34" charset="0"/>
                <a:cs typeface="Arial" panose="020B0604020202020204" pitchFamily="34" charset="0"/>
              </a:rPr>
              <a:t>Data Sources</a:t>
            </a:r>
            <a:r>
              <a:rPr lang="hu-HU"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1600" dirty="0">
                <a:latin typeface="Arial" panose="020B0604020202020204" pitchFamily="34" charset="0"/>
                <a:cs typeface="Arial" panose="020B0604020202020204" pitchFamily="34" charset="0"/>
              </a:rPr>
              <a:t>Open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Meteo</a:t>
            </a:r>
            <a:r>
              <a:rPr lang="hu-HU" sz="1600" dirty="0">
                <a:latin typeface="Arial" panose="020B0604020202020204" pitchFamily="34" charset="0"/>
                <a:cs typeface="Arial" panose="020B0604020202020204" pitchFamily="34" charset="0"/>
              </a:rPr>
              <a:t> API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1600" dirty="0">
                <a:latin typeface="Arial" panose="020B0604020202020204" pitchFamily="34" charset="0"/>
                <a:cs typeface="Arial" panose="020B0604020202020204" pitchFamily="34" charset="0"/>
              </a:rPr>
              <a:t>World Air Quality Index (WAQI) API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BC5AA6E-37F0-4ACF-8022-D10DB1896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5179" y="2573876"/>
            <a:ext cx="3482181" cy="220264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259DE28A-1B0E-4B16-AF8B-9C6AE7BE0E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80" y="2571750"/>
            <a:ext cx="3650303" cy="2204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961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78172-6229-3C13-05F4-C62ED8FCB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2A6D3FCB-9798-35E1-5627-605A93C085F6}"/>
              </a:ext>
            </a:extLst>
          </p:cNvPr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2800" dirty="0" err="1"/>
              <a:t>Runability</a:t>
            </a:r>
            <a:r>
              <a:rPr lang="en-US" sz="2800" dirty="0"/>
              <a:t> Score Algorithm</a:t>
            </a:r>
            <a:r>
              <a:rPr lang="hu-HU" sz="2800" dirty="0"/>
              <a:t> I.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6F94D8-A04D-B61A-865E-4483E9A7BF5E}"/>
              </a:ext>
            </a:extLst>
          </p:cNvPr>
          <p:cNvSpPr txBox="1">
            <a:spLocks/>
          </p:cNvSpPr>
          <p:nvPr/>
        </p:nvSpPr>
        <p:spPr>
          <a:xfrm>
            <a:off x="476280" y="1428480"/>
            <a:ext cx="6352223" cy="335942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Unlike many existing outdoor activity recommendation tools that rely primarily on </a:t>
            </a:r>
            <a:r>
              <a:rPr lang="en-US" sz="2000" b="1" dirty="0"/>
              <a:t>Air Quality Index (AQI) </a:t>
            </a:r>
            <a:r>
              <a:rPr lang="en-US" sz="2000" dirty="0"/>
              <a:t>alone, our system combines multiple environmental factors</a:t>
            </a:r>
            <a:r>
              <a:rPr lang="hu-HU" sz="2000" dirty="0"/>
              <a:t>, </a:t>
            </a:r>
            <a:r>
              <a:rPr lang="en-US" sz="2000" dirty="0"/>
              <a:t>including </a:t>
            </a:r>
            <a:r>
              <a:rPr lang="en-US" sz="2000" b="1" dirty="0"/>
              <a:t>temperature, humidity, wind, </a:t>
            </a:r>
            <a:r>
              <a:rPr lang="en-US" sz="2000" dirty="0"/>
              <a:t>and</a:t>
            </a:r>
            <a:r>
              <a:rPr lang="en-US" sz="2000" b="1" dirty="0"/>
              <a:t> rain</a:t>
            </a:r>
            <a:r>
              <a:rPr lang="hu-HU" sz="2000" dirty="0"/>
              <a:t>, </a:t>
            </a:r>
            <a:r>
              <a:rPr lang="en-US" sz="2000" dirty="0"/>
              <a:t>to provide a more realistic activity suitability score.</a:t>
            </a:r>
            <a:endParaRPr lang="hu-HU" sz="2000" dirty="0"/>
          </a:p>
          <a:p>
            <a:r>
              <a:rPr lang="en-US" sz="2000" dirty="0"/>
              <a:t>Scoring Logic:</a:t>
            </a:r>
            <a:r>
              <a:rPr lang="hu-HU" sz="2000" dirty="0"/>
              <a:t> </a:t>
            </a:r>
            <a:r>
              <a:rPr lang="en-US" sz="2000" dirty="0"/>
              <a:t>Each input is converted into a 0-1 comfort factor</a:t>
            </a:r>
            <a:endParaRPr lang="hu-HU" sz="2000" dirty="0"/>
          </a:p>
          <a:p>
            <a:r>
              <a:rPr lang="en-US" sz="1600" dirty="0" err="1"/>
              <a:t>Runability</a:t>
            </a:r>
            <a:r>
              <a:rPr lang="en-US" sz="1600" dirty="0"/>
              <a:t> Score = 100</a:t>
            </a:r>
            <a:r>
              <a:rPr lang="hu-HU" sz="1600" dirty="0"/>
              <a:t>*</a:t>
            </a:r>
            <a:r>
              <a:rPr lang="en-US" sz="1600" dirty="0" err="1"/>
              <a:t>temp_score</a:t>
            </a:r>
            <a:r>
              <a:rPr lang="hu-HU" sz="1600" dirty="0"/>
              <a:t>*</a:t>
            </a:r>
            <a:r>
              <a:rPr lang="en-US" sz="1600" dirty="0" err="1"/>
              <a:t>hum_score</a:t>
            </a:r>
            <a:r>
              <a:rPr lang="hu-HU" sz="1600" dirty="0"/>
              <a:t>*</a:t>
            </a:r>
            <a:r>
              <a:rPr lang="en-US" sz="1600" dirty="0" err="1"/>
              <a:t>wind_score</a:t>
            </a:r>
            <a:r>
              <a:rPr lang="hu-HU" sz="1600" dirty="0"/>
              <a:t>*</a:t>
            </a:r>
            <a:r>
              <a:rPr lang="en-US" sz="1600" dirty="0" err="1"/>
              <a:t>rain_score</a:t>
            </a:r>
            <a:r>
              <a:rPr lang="hu-HU" sz="1600" dirty="0"/>
              <a:t>*</a:t>
            </a:r>
            <a:r>
              <a:rPr lang="en-US" sz="1600" dirty="0"/>
              <a:t>a</a:t>
            </a:r>
            <a:r>
              <a:rPr lang="hu-HU" sz="1600" dirty="0" err="1"/>
              <a:t>qi</a:t>
            </a:r>
            <a:r>
              <a:rPr lang="en-US" sz="1600" dirty="0"/>
              <a:t>_score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5F7A32-3837-CEFB-34AE-10E701E424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1254" y="2085828"/>
            <a:ext cx="1972588" cy="233675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43161C-603D-9E75-66A7-0C25B7865B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5587" y="355600"/>
            <a:ext cx="2921658" cy="1364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5979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81671-7CF4-5565-95AA-9CA2D59B0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32A85256-C8EF-8B9B-5E8F-182B27D99890}"/>
              </a:ext>
            </a:extLst>
          </p:cNvPr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2800" dirty="0" err="1"/>
              <a:t>Runability</a:t>
            </a:r>
            <a:r>
              <a:rPr lang="en-US" sz="2800" dirty="0"/>
              <a:t> Score Algorithm</a:t>
            </a:r>
            <a:r>
              <a:rPr lang="hu-HU" sz="2800" dirty="0"/>
              <a:t> II.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EFB94E-28F4-9140-5DA5-8ABB37F27B64}"/>
              </a:ext>
            </a:extLst>
          </p:cNvPr>
          <p:cNvSpPr txBox="1">
            <a:spLocks/>
          </p:cNvSpPr>
          <p:nvPr/>
        </p:nvSpPr>
        <p:spPr>
          <a:xfrm>
            <a:off x="476280" y="1428480"/>
            <a:ext cx="8191080" cy="335942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000" dirty="0" err="1"/>
              <a:t>Score</a:t>
            </a:r>
            <a:r>
              <a:rPr lang="hu-HU" sz="2000" dirty="0"/>
              <a:t> </a:t>
            </a:r>
            <a:r>
              <a:rPr lang="hu-HU" sz="2000" dirty="0" err="1"/>
              <a:t>interpretation</a:t>
            </a:r>
            <a:r>
              <a:rPr lang="hu-HU" sz="2000" dirty="0"/>
              <a:t>:</a:t>
            </a:r>
          </a:p>
          <a:p>
            <a:pPr lvl="1"/>
            <a:r>
              <a:rPr lang="en-US" sz="1600" dirty="0"/>
              <a:t>80-100  Good       -&gt; Great for run/walk</a:t>
            </a:r>
          </a:p>
          <a:p>
            <a:pPr lvl="1"/>
            <a:r>
              <a:rPr lang="en-US" sz="1600" dirty="0"/>
              <a:t>60-79   Usable</a:t>
            </a:r>
            <a:r>
              <a:rPr lang="hu-HU" sz="1600" dirty="0"/>
              <a:t>      </a:t>
            </a:r>
            <a:r>
              <a:rPr lang="en-US" sz="1600" dirty="0"/>
              <a:t>-&gt; Okay with caution</a:t>
            </a:r>
          </a:p>
          <a:p>
            <a:pPr lvl="1"/>
            <a:r>
              <a:rPr lang="en-US" sz="1600" dirty="0"/>
              <a:t>40-59   Marginal   -&gt; Short/light activity only</a:t>
            </a:r>
          </a:p>
          <a:p>
            <a:pPr lvl="1"/>
            <a:r>
              <a:rPr lang="en-US" sz="1600" dirty="0"/>
              <a:t>0-39    Poor       </a:t>
            </a:r>
            <a:r>
              <a:rPr lang="hu-HU" sz="1600" dirty="0"/>
              <a:t>   </a:t>
            </a:r>
            <a:r>
              <a:rPr lang="en-US" sz="1600" dirty="0"/>
              <a:t>-&gt; Not recommended now</a:t>
            </a:r>
            <a:endParaRPr lang="hu-HU" sz="1600" dirty="0"/>
          </a:p>
          <a:p>
            <a:r>
              <a:rPr lang="hu-HU" sz="2000" dirty="0" err="1"/>
              <a:t>Example</a:t>
            </a:r>
            <a:r>
              <a:rPr lang="hu-HU" sz="2000" dirty="0"/>
              <a:t>:</a:t>
            </a:r>
          </a:p>
          <a:p>
            <a:pPr lvl="1"/>
            <a:r>
              <a:rPr lang="en-US" sz="1600" dirty="0"/>
              <a:t>Temp: 20°C, Humidity: 55%, Wind: 10 km/h, Rain: 0 mm, AQI: 45</a:t>
            </a:r>
          </a:p>
          <a:p>
            <a:pPr lvl="1"/>
            <a:r>
              <a:rPr lang="en-US" sz="1600" dirty="0"/>
              <a:t>Final score = 100 × 0.9518 × 0.9497 × 0.8288 × 1.0 × 1.0</a:t>
            </a:r>
            <a:r>
              <a:rPr lang="hu-HU" sz="1600" dirty="0"/>
              <a:t> </a:t>
            </a:r>
            <a:r>
              <a:rPr lang="en-US" sz="1600" dirty="0"/>
              <a:t>= 74.94</a:t>
            </a:r>
            <a:endParaRPr lang="hu-HU" sz="1600" dirty="0"/>
          </a:p>
          <a:p>
            <a:pPr lvl="1"/>
            <a:r>
              <a:rPr lang="en-US" sz="1600" dirty="0"/>
              <a:t>Recommendation: Okay with caution</a:t>
            </a:r>
          </a:p>
        </p:txBody>
      </p:sp>
    </p:spTree>
    <p:extLst>
      <p:ext uri="{BB962C8B-B14F-4D97-AF65-F5344CB8AC3E}">
        <p14:creationId xmlns:p14="http://schemas.microsoft.com/office/powerpoint/2010/main" val="344086299"/>
      </p:ext>
    </p:extLst>
  </p:cSld>
  <p:clrMapOvr>
    <a:masterClrMapping/>
  </p:clrMapOvr>
</p:sld>
</file>

<file path=ppt/theme/theme1.xml><?xml version="1.0" encoding="utf-8"?>
<a:theme xmlns:a="http://schemas.openxmlformats.org/drawingml/2006/main" name="Blue Gradient by Slidesgo">
  <a:themeElements>
    <a:clrScheme name="Simple Light">
      <a:dk1>
        <a:srgbClr val="083C77"/>
      </a:dk1>
      <a:lt1>
        <a:srgbClr val="EBFCFF"/>
      </a:lt1>
      <a:dk2>
        <a:srgbClr val="083C77"/>
      </a:dk2>
      <a:lt2>
        <a:srgbClr val="9CE3E9"/>
      </a:lt2>
      <a:accent1>
        <a:srgbClr val="93C4E0"/>
      </a:accent1>
      <a:accent2>
        <a:srgbClr val="829EEB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83C7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369</TotalTime>
  <Words>545</Words>
  <Application>Microsoft Office PowerPoint</Application>
  <PresentationFormat>On-screen Show (16:9)</PresentationFormat>
  <Paragraphs>49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8" baseType="lpstr">
      <vt:lpstr>Aptos</vt:lpstr>
      <vt:lpstr>Arial</vt:lpstr>
      <vt:lpstr>Figtree</vt:lpstr>
      <vt:lpstr>inherit</vt:lpstr>
      <vt:lpstr>Karla</vt:lpstr>
      <vt:lpstr>OpenSymbol</vt:lpstr>
      <vt:lpstr>Symbol</vt:lpstr>
      <vt:lpstr>Wingdings</vt:lpstr>
      <vt:lpstr>Blue Gradient by Slidesgo</vt:lpstr>
      <vt:lpstr>Slidesgo Final Pages</vt:lpstr>
      <vt:lpstr>RunReady: Campus Weather &amp; Air Quality Analyzer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RunReady: Campus Weather &amp; Air Quality Analyzer</dc:title>
  <dc:creator>Móric Sz</dc:creator>
  <cp:lastModifiedBy>Békési Marcell</cp:lastModifiedBy>
  <cp:revision>18</cp:revision>
  <dcterms:modified xsi:type="dcterms:W3CDTF">2026-05-16T12:32:21Z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2026-03-04T09:47:39Z</dcterms:created>
  <dc:creator>Unknown Creator</dc:creator>
  <dc:description/>
  <dc:language>en-US</dc:language>
  <cp:lastModifiedBy>Unknown Creator</cp:lastModifiedBy>
  <dcterms:modified xsi:type="dcterms:W3CDTF">2026-03-04T09:47:39Z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